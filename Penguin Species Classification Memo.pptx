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60" r:id="rId4"/>
  </p:sldMasterIdLst>
  <p:notesMasterIdLst>
    <p:notesMasterId r:id="rId15"/>
  </p:notesMasterIdLst>
  <p:handoutMasterIdLst>
    <p:handoutMasterId r:id="rId16"/>
  </p:handoutMasterIdLst>
  <p:sldIdLst>
    <p:sldId id="268" r:id="rId5"/>
    <p:sldId id="269" r:id="rId6"/>
    <p:sldId id="271" r:id="rId7"/>
    <p:sldId id="262" r:id="rId8"/>
    <p:sldId id="272" r:id="rId9"/>
    <p:sldId id="277" r:id="rId10"/>
    <p:sldId id="274" r:id="rId11"/>
    <p:sldId id="275" r:id="rId12"/>
    <p:sldId id="276" r:id="rId13"/>
    <p:sldId id="257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33E57"/>
    <a:srgbClr val="184259"/>
    <a:srgbClr val="9C4E4E"/>
    <a:srgbClr val="700000"/>
    <a:srgbClr val="5E2001"/>
    <a:srgbClr val="8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96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F5AB1C69-6EDB-4FF4-983F-18BD219EF32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06" autoAdjust="0"/>
    <p:restoredTop sz="94652" autoAdjust="0"/>
  </p:normalViewPr>
  <p:slideViewPr>
    <p:cSldViewPr snapToGrid="0">
      <p:cViewPr varScale="1">
        <p:scale>
          <a:sx n="97" d="100"/>
          <a:sy n="97" d="100"/>
        </p:scale>
        <p:origin x="55" y="1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2BF7510-B9ED-40E0-8274-4F64AD62B83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5E24B0-B97F-4932-93CD-4307D6181DC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0AA17F-CB06-445B-ACD3-321E84E51A80}" type="datetimeFigureOut">
              <a:rPr lang="en-US" smtClean="0"/>
              <a:t>6/15/2026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C3A0DF-A8A7-4EF4-96E5-757FFFC2A93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BEC987-E8F6-4FD2-BFB2-04815BD1D2F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078EF9-7F2B-4B20-A25C-9E80C16977B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0114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6141C0-BF72-4A20-AFA7-D05563D549B7}" type="datetimeFigureOut">
              <a:rPr lang="en-US" smtClean="0"/>
              <a:t>6/15/2026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AAF9CF-D1E5-49FD-94F7-B246BB67E24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2858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 bwMode="blackGray">
      <p:bgPr>
        <a:gradFill flip="none" rotWithShape="1">
          <a:gsLst>
            <a:gs pos="0">
              <a:schemeClr val="accent3">
                <a:lumMod val="89000"/>
              </a:schemeClr>
            </a:gs>
            <a:gs pos="23000">
              <a:schemeClr val="accent3">
                <a:lumMod val="89000"/>
              </a:schemeClr>
            </a:gs>
            <a:gs pos="69000">
              <a:schemeClr val="accent3">
                <a:lumMod val="75000"/>
              </a:schemeClr>
            </a:gs>
            <a:gs pos="97000">
              <a:schemeClr val="accent3">
                <a:lumMod val="5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840914" cy="1260000"/>
          </a:xfrm>
        </p:spPr>
        <p:txBody>
          <a:bodyPr anchor="ctr" anchorCtr="0">
            <a:normAutofit/>
          </a:bodyPr>
          <a:lstStyle>
            <a:lvl1pPr>
              <a:defRPr sz="3000"/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1" y="1869601"/>
            <a:ext cx="10840914" cy="3921600"/>
          </a:xfrm>
        </p:spPr>
        <p:txBody>
          <a:bodyPr anchor="t" anchorCtr="0"/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B7D2A-0DF8-424B-9572-B79AEBB2D9DC}" type="datetimeFigureOut">
              <a:rPr lang="en-US" noProof="0" smtClean="0"/>
              <a:t>6/15/2026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9DD2A-B520-4620-9B43-64B657BA2D42}" type="slidenum">
              <a:rPr lang="en-US" noProof="0" smtClean="0"/>
              <a:t>‹#›</a:t>
            </a:fld>
            <a:endParaRPr lang="en-US" noProof="0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28F7C25-BFB6-430F-87B6-7D0D2C7493D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-185517" y="1223433"/>
            <a:ext cx="504000" cy="0"/>
          </a:xfrm>
          <a:prstGeom prst="line">
            <a:avLst/>
          </a:prstGeom>
          <a:ln w="127000" cap="sq">
            <a:solidFill>
              <a:schemeClr val="accent3"/>
            </a:solidFill>
            <a:miter lim="800000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02627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 bwMode="blackGray">
      <p:bgPr>
        <a:gradFill flip="none" rotWithShape="1">
          <a:gsLst>
            <a:gs pos="0">
              <a:schemeClr val="accent3">
                <a:lumMod val="89000"/>
              </a:schemeClr>
            </a:gs>
            <a:gs pos="23000">
              <a:schemeClr val="accent3">
                <a:lumMod val="89000"/>
              </a:schemeClr>
            </a:gs>
            <a:gs pos="69000">
              <a:schemeClr val="accent3">
                <a:lumMod val="75000"/>
              </a:schemeClr>
            </a:gs>
            <a:gs pos="97000">
              <a:schemeClr val="accent3">
                <a:lumMod val="5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5" y="1786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76500" y="2716272"/>
            <a:ext cx="8683625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76500" y="5137736"/>
            <a:ext cx="8683625" cy="73284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noProof="0" smtClean="0"/>
              <a:t>Click to edit Master subtitle style</a:t>
            </a:r>
            <a:endParaRPr lang="en-US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984B7D2A-0DF8-424B-9572-B79AEBB2D9DC}" type="datetimeFigureOut">
              <a:rPr lang="en-US" noProof="0" smtClean="0"/>
              <a:t>6/15/2026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5D99DD2A-B520-4620-9B43-64B657BA2D42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629371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2450" y="1874308"/>
            <a:ext cx="3814235" cy="1260000"/>
          </a:xfrm>
        </p:spPr>
        <p:txBody>
          <a:bodyPr anchor="ctr" anchorCtr="0">
            <a:noAutofit/>
          </a:bodyPr>
          <a:lstStyle>
            <a:lvl1pPr algn="r">
              <a:defRPr sz="3000" b="0"/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0" y="0"/>
            <a:ext cx="7543800" cy="6856214"/>
          </a:xfrm>
        </p:spPr>
        <p:txBody>
          <a:bodyPr anchor="ctr">
            <a:normAutofit/>
          </a:bodyPr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52450" y="3134308"/>
            <a:ext cx="3814235" cy="20166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B7D2A-0DF8-424B-9572-B79AEBB2D9DC}" type="datetimeFigureOut">
              <a:rPr lang="en-US" noProof="0" smtClean="0"/>
              <a:t>6/15/2026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9DD2A-B520-4620-9B43-64B657BA2D42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063388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Description and Con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>
            <a:extLst>
              <a:ext uri="{FF2B5EF4-FFF2-40B4-BE49-F238E27FC236}">
                <a16:creationId xmlns:a16="http://schemas.microsoft.com/office/drawing/2014/main" id="{A1E35E73-B2F7-41DF-AAD2-58E6BE2710D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840914" cy="1260000"/>
          </a:xfrm>
        </p:spPr>
        <p:txBody>
          <a:bodyPr anchor="ctr" anchorCtr="0">
            <a:normAutofit/>
          </a:bodyPr>
          <a:lstStyle>
            <a:lvl1pPr>
              <a:defRPr sz="3000"/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1881824"/>
            <a:ext cx="10840914" cy="1032826"/>
          </a:xfrm>
        </p:spPr>
        <p:txBody>
          <a:bodyPr anchor="t" anchorCtr="0">
            <a:noAutofit/>
          </a:bodyPr>
          <a:lstStyle>
            <a:lvl1pPr marL="0" indent="0"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B7D2A-0DF8-424B-9572-B79AEBB2D9DC}" type="datetimeFigureOut">
              <a:rPr lang="en-US" noProof="0" smtClean="0"/>
              <a:t>6/15/2026</a:t>
            </a:fld>
            <a:endParaRPr lang="en-US" noProof="0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47DAE59-9D63-4159-8F3E-560C31F19A8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16192" y="3837470"/>
            <a:ext cx="1310050" cy="959003"/>
          </a:xfrm>
        </p:spPr>
        <p:txBody>
          <a:bodyPr>
            <a:noAutofit/>
          </a:bodyPr>
          <a:lstStyle>
            <a:lvl1pPr marL="0" indent="0" algn="ctr">
              <a:buNone/>
              <a:defRPr sz="1200"/>
            </a:lvl1pPr>
            <a:lvl3pPr algn="ctr">
              <a:defRPr sz="1200"/>
            </a:lvl3pPr>
            <a:lvl5pPr marL="1828800" indent="0">
              <a:buNone/>
              <a:defRPr/>
            </a:lvl5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9DD2A-B520-4620-9B43-64B657BA2D42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4249143D-80A5-4E4C-BBFD-F253500CE226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685799" y="2914650"/>
            <a:ext cx="10840914" cy="502126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B06123F0-984B-4EF8-9945-3621C401B7A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465366" y="3837470"/>
            <a:ext cx="1310050" cy="959003"/>
          </a:xfrm>
        </p:spPr>
        <p:txBody>
          <a:bodyPr>
            <a:noAutofit/>
          </a:bodyPr>
          <a:lstStyle>
            <a:lvl1pPr marL="0" indent="0" algn="ctr">
              <a:buNone/>
              <a:defRPr sz="1200"/>
            </a:lvl1pPr>
            <a:lvl3pPr algn="ctr">
              <a:defRPr sz="1200"/>
            </a:lvl3pPr>
            <a:lvl5pPr marL="1828800" indent="0">
              <a:buNone/>
              <a:defRPr/>
            </a:lvl5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A669C074-A9BE-4B07-ACEE-3B34AAC8B9E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48424" y="3837470"/>
            <a:ext cx="1310050" cy="959003"/>
          </a:xfrm>
        </p:spPr>
        <p:txBody>
          <a:bodyPr>
            <a:noAutofit/>
          </a:bodyPr>
          <a:lstStyle>
            <a:lvl1pPr marL="0" indent="0" algn="ctr">
              <a:buNone/>
              <a:defRPr sz="1200"/>
            </a:lvl1pPr>
            <a:lvl3pPr algn="ctr">
              <a:defRPr sz="1200"/>
            </a:lvl3pPr>
            <a:lvl5pPr marL="1828800" indent="0">
              <a:buNone/>
              <a:defRPr/>
            </a:lvl5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A40D78-D6DD-41A7-A132-9D48DF8649A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382308" y="3837470"/>
            <a:ext cx="1310050" cy="959003"/>
          </a:xfrm>
        </p:spPr>
        <p:txBody>
          <a:bodyPr>
            <a:noAutofit/>
          </a:bodyPr>
          <a:lstStyle>
            <a:lvl1pPr marL="0" indent="0" algn="ctr">
              <a:buNone/>
              <a:defRPr sz="1200"/>
            </a:lvl1pPr>
            <a:lvl3pPr algn="ctr">
              <a:defRPr sz="1200"/>
            </a:lvl3pPr>
            <a:lvl5pPr marL="1828800" indent="0">
              <a:buNone/>
              <a:defRPr/>
            </a:lvl5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4A9CFAA7-850F-4C92-A9BE-56452E5CA04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99250" y="3837470"/>
            <a:ext cx="1310050" cy="959003"/>
          </a:xfrm>
        </p:spPr>
        <p:txBody>
          <a:bodyPr>
            <a:noAutofit/>
          </a:bodyPr>
          <a:lstStyle>
            <a:lvl1pPr marL="0" indent="0" algn="ctr">
              <a:buNone/>
              <a:defRPr sz="1200"/>
            </a:lvl1pPr>
            <a:lvl3pPr algn="ctr">
              <a:defRPr sz="1200"/>
            </a:lvl3pPr>
            <a:lvl5pPr marL="1828800" indent="0">
              <a:buNone/>
              <a:defRPr/>
            </a:lvl5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C5A0CF1-9FE7-4149-97DC-5221639144C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-185517" y="1242483"/>
            <a:ext cx="504000" cy="0"/>
          </a:xfrm>
          <a:prstGeom prst="line">
            <a:avLst/>
          </a:prstGeom>
          <a:ln w="127000" cap="sq">
            <a:solidFill>
              <a:schemeClr val="accent3"/>
            </a:solidFill>
            <a:miter lim="800000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36392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7326" y="995967"/>
            <a:ext cx="6238874" cy="1260000"/>
          </a:xfrm>
        </p:spPr>
        <p:txBody>
          <a:bodyPr anchor="ctr" anchorCtr="0">
            <a:noAutofit/>
          </a:bodyPr>
          <a:lstStyle>
            <a:lvl1pPr algn="r">
              <a:defRPr sz="3000" b="0"/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 bwMode="blackGray">
          <a:xfrm>
            <a:off x="8014200" y="995968"/>
            <a:ext cx="3492000" cy="4866064"/>
          </a:xfrm>
          <a:prstGeom prst="roundRect">
            <a:avLst>
              <a:gd name="adj" fmla="val 2371"/>
            </a:avLst>
          </a:prstGeom>
          <a:solidFill>
            <a:schemeClr val="bg2">
              <a:lumMod val="75000"/>
              <a:lumOff val="25000"/>
            </a:schemeClr>
          </a:solidFill>
          <a:ln w="28575" cap="sq" cmpd="sng">
            <a:solidFill>
              <a:schemeClr val="accent3">
                <a:lumMod val="50000"/>
              </a:schemeClr>
            </a:solidFill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85849" y="2255967"/>
            <a:ext cx="6610351" cy="3476618"/>
          </a:xfrm>
        </p:spPr>
        <p:txBody>
          <a:bodyPr anchor="t">
            <a:normAutofit/>
          </a:bodyPr>
          <a:lstStyle>
            <a:lvl1pPr marL="0" indent="0" algn="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B7D2A-0DF8-424B-9572-B79AEBB2D9DC}" type="datetimeFigureOut">
              <a:rPr lang="en-US" noProof="0" smtClean="0"/>
              <a:t>6/15/2026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9DD2A-B520-4620-9B43-64B657BA2D42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9693825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Righ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57974" y="995968"/>
            <a:ext cx="4848225" cy="1260000"/>
          </a:xfrm>
        </p:spPr>
        <p:txBody>
          <a:bodyPr anchor="ctr" anchorCtr="0">
            <a:normAutofit/>
          </a:bodyPr>
          <a:lstStyle>
            <a:lvl1pPr algn="l">
              <a:defRPr sz="3000" b="0"/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 bwMode="blackGray">
          <a:xfrm>
            <a:off x="727574" y="914400"/>
            <a:ext cx="5749425" cy="4818185"/>
          </a:xfrm>
          <a:prstGeom prst="roundRect">
            <a:avLst>
              <a:gd name="adj" fmla="val 2371"/>
            </a:avLst>
          </a:prstGeom>
          <a:solidFill>
            <a:schemeClr val="bg2">
              <a:lumMod val="75000"/>
              <a:lumOff val="25000"/>
            </a:schemeClr>
          </a:solidFill>
          <a:ln w="28575" cap="sq" cmpd="sng">
            <a:solidFill>
              <a:schemeClr val="accent3">
                <a:lumMod val="50000"/>
              </a:schemeClr>
            </a:solidFill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57974" y="2255968"/>
            <a:ext cx="4848225" cy="347661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B7D2A-0DF8-424B-9572-B79AEBB2D9DC}" type="datetimeFigureOut">
              <a:rPr lang="en-US" noProof="0" smtClean="0"/>
              <a:t>6/15/2026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9DD2A-B520-4620-9B43-64B657BA2D42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329592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 bwMode="white">
          <a:xfrm>
            <a:off x="10571243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noProof="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 bwMode="white">
          <a:xfrm>
            <a:off x="100262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noProof="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320801" y="609601"/>
            <a:ext cx="9550399" cy="2743199"/>
          </a:xfrm>
        </p:spPr>
        <p:txBody>
          <a:bodyPr anchor="ctr">
            <a:normAutofit/>
          </a:bodyPr>
          <a:lstStyle>
            <a:lvl1pPr algn="ctr">
              <a:defRPr sz="3000" b="0" i="1" cap="none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26408" y="3352800"/>
            <a:ext cx="9339184" cy="3810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AD7857E-8E0E-4AC1-ABDC-E42462C788DE}"/>
              </a:ext>
            </a:extLst>
          </p:cNvPr>
          <p:cNvSpPr/>
          <p:nvPr userDrawn="1"/>
        </p:nvSpPr>
        <p:spPr>
          <a:xfrm>
            <a:off x="1750844" y="3962401"/>
            <a:ext cx="8690313" cy="1908173"/>
          </a:xfrm>
          <a:prstGeom prst="roundRect">
            <a:avLst>
              <a:gd name="adj" fmla="val 6552"/>
            </a:avLst>
          </a:prstGeom>
          <a:solidFill>
            <a:schemeClr val="accent3">
              <a:alpha val="7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57375" y="4021138"/>
            <a:ext cx="8486775" cy="176053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B7D2A-0DF8-424B-9572-B79AEBB2D9DC}" type="datetimeFigureOut">
              <a:rPr lang="en-US" noProof="0" smtClean="0"/>
              <a:t>6/15/2026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9DD2A-B520-4620-9B43-64B657BA2D42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1534094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>
            <a:extLst>
              <a:ext uri="{FF2B5EF4-FFF2-40B4-BE49-F238E27FC236}">
                <a16:creationId xmlns:a16="http://schemas.microsoft.com/office/drawing/2014/main" id="{A1E35E73-B2F7-41DF-AAD2-58E6BE2710D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599"/>
            <a:ext cx="10840914" cy="1260000"/>
          </a:xfrm>
        </p:spPr>
        <p:txBody>
          <a:bodyPr>
            <a:normAutofit/>
          </a:bodyPr>
          <a:lstStyle>
            <a:lvl1pPr>
              <a:defRPr sz="3000"/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1869599"/>
            <a:ext cx="5202071" cy="916228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2870201"/>
            <a:ext cx="5202071" cy="2916000"/>
          </a:xfrm>
          <a:prstGeom prst="roundRect">
            <a:avLst>
              <a:gd name="adj" fmla="val 2496"/>
            </a:avLst>
          </a:prstGeom>
          <a:ln w="28575">
            <a:solidFill>
              <a:schemeClr val="accent3">
                <a:lumMod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t">
            <a:normAutofit/>
          </a:bodyPr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8270" y="1869599"/>
            <a:ext cx="5228444" cy="916228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8270" y="2870201"/>
            <a:ext cx="5202071" cy="2916000"/>
          </a:xfrm>
          <a:prstGeom prst="roundRect">
            <a:avLst>
              <a:gd name="adj" fmla="val 2798"/>
            </a:avLst>
          </a:prstGeom>
          <a:ln w="28575">
            <a:solidFill>
              <a:schemeClr val="accent3">
                <a:lumMod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t">
            <a:normAutofit/>
          </a:bodyPr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B7D2A-0DF8-424B-9572-B79AEBB2D9DC}" type="datetimeFigureOut">
              <a:rPr lang="en-US" noProof="0" smtClean="0"/>
              <a:t>6/15/2026</a:t>
            </a:fld>
            <a:endParaRPr lang="en-US" noProof="0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9DD2A-B520-4620-9B43-64B657BA2D42}" type="slidenum">
              <a:rPr lang="en-US" noProof="0" smtClean="0"/>
              <a:t>‹#›</a:t>
            </a:fld>
            <a:endParaRPr lang="en-US" noProof="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031B0A9-3E16-4C5B-A6CE-045BCB91A00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57150" y="939761"/>
            <a:ext cx="3666" cy="491143"/>
          </a:xfrm>
          <a:prstGeom prst="line">
            <a:avLst/>
          </a:prstGeom>
          <a:ln w="127000" cap="sq">
            <a:solidFill>
              <a:schemeClr val="accent3"/>
            </a:solidFill>
            <a:miter lim="800000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69611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840914" cy="1260000"/>
          </a:xfrm>
        </p:spPr>
        <p:txBody>
          <a:bodyPr>
            <a:normAutofit/>
          </a:bodyPr>
          <a:lstStyle>
            <a:lvl1pPr>
              <a:defRPr sz="3000"/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44449DE-635B-4B23-9B8B-C95A5B8764DB}"/>
              </a:ext>
            </a:extLst>
          </p:cNvPr>
          <p:cNvSpPr/>
          <p:nvPr userDrawn="1"/>
        </p:nvSpPr>
        <p:spPr>
          <a:xfrm>
            <a:off x="663356" y="1790228"/>
            <a:ext cx="10863358" cy="4080348"/>
          </a:xfrm>
          <a:prstGeom prst="roundRect">
            <a:avLst>
              <a:gd name="adj" fmla="val 2634"/>
            </a:avLst>
          </a:prstGeom>
          <a:solidFill>
            <a:schemeClr val="accent3">
              <a:alpha val="7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1869600"/>
            <a:ext cx="5040000" cy="3921601"/>
          </a:xfrm>
          <a:prstGeom prst="roundRect">
            <a:avLst>
              <a:gd name="adj" fmla="val 1970"/>
            </a:avLst>
          </a:prstGeom>
          <a:ln w="28575">
            <a:noFill/>
          </a:ln>
          <a:effectLst/>
        </p:spPr>
        <p:txBody>
          <a:bodyPr anchor="t" anchorCtr="0">
            <a:normAutofit/>
          </a:bodyPr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88644" y="1869601"/>
            <a:ext cx="5040000" cy="3921600"/>
          </a:xfrm>
          <a:prstGeom prst="roundRect">
            <a:avLst>
              <a:gd name="adj" fmla="val 2211"/>
            </a:avLst>
          </a:prstGeom>
          <a:ln w="28575">
            <a:noFill/>
          </a:ln>
          <a:effectLst/>
        </p:spPr>
        <p:txBody>
          <a:bodyPr anchor="t" anchorCtr="0">
            <a:normAutofit/>
          </a:bodyPr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B7D2A-0DF8-424B-9572-B79AEBB2D9DC}" type="datetimeFigureOut">
              <a:rPr lang="en-US" noProof="0" smtClean="0"/>
              <a:t>6/15/2026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9DD2A-B520-4620-9B43-64B657BA2D42}" type="slidenum">
              <a:rPr lang="en-US" noProof="0" smtClean="0"/>
              <a:t>‹#›</a:t>
            </a:fld>
            <a:endParaRPr lang="en-US" noProof="0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8539E0A-8009-4A6E-A7A1-5AEFA52206C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57150" y="996911"/>
            <a:ext cx="3666" cy="491143"/>
          </a:xfrm>
          <a:prstGeom prst="line">
            <a:avLst/>
          </a:prstGeom>
          <a:ln w="127000" cap="sq">
            <a:solidFill>
              <a:schemeClr val="accent3"/>
            </a:solidFill>
            <a:miter lim="800000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3527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85801" y="609601"/>
            <a:ext cx="10840913" cy="3124199"/>
          </a:xfrm>
        </p:spPr>
        <p:txBody>
          <a:bodyPr anchor="ctr">
            <a:normAutofit/>
          </a:bodyPr>
          <a:lstStyle>
            <a:lvl1pPr algn="l">
              <a:defRPr sz="3000" b="0" cap="none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3733800"/>
            <a:ext cx="10840914" cy="2057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B7D2A-0DF8-424B-9572-B79AEBB2D9DC}" type="datetimeFigureOut">
              <a:rPr lang="en-US" noProof="0" smtClean="0"/>
              <a:t>6/15/2026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9DD2A-B520-4620-9B43-64B657BA2D42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33263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840914" cy="1260000"/>
          </a:xfrm>
        </p:spPr>
        <p:txBody>
          <a:bodyPr>
            <a:normAutofit/>
          </a:bodyPr>
          <a:lstStyle>
            <a:lvl1pPr>
              <a:defRPr sz="3000"/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B7D2A-0DF8-424B-9572-B79AEBB2D9DC}" type="datetimeFigureOut">
              <a:rPr lang="en-US" noProof="0" smtClean="0"/>
              <a:t>6/15/2026</a:t>
            </a:fld>
            <a:endParaRPr lang="en-US" noProof="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9DD2A-B520-4620-9B43-64B657BA2D42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5106499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B7D2A-0DF8-424B-9572-B79AEBB2D9DC}" type="datetimeFigureOut">
              <a:rPr lang="en-US" noProof="0" smtClean="0"/>
              <a:t>6/15/2026</a:t>
            </a:fld>
            <a:endParaRPr lang="en-US" noProof="0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9DD2A-B520-4620-9B43-64B657BA2D42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4537065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blackGray">
      <p:bgPr>
        <a:gradFill flip="none" rotWithShape="1">
          <a:gsLst>
            <a:gs pos="0">
              <a:schemeClr val="accent3">
                <a:lumMod val="89000"/>
              </a:schemeClr>
            </a:gs>
            <a:gs pos="23000">
              <a:schemeClr val="accent3">
                <a:lumMod val="89000"/>
              </a:schemeClr>
            </a:gs>
            <a:gs pos="69000">
              <a:schemeClr val="accent3">
                <a:lumMod val="75000"/>
              </a:schemeClr>
            </a:gs>
            <a:gs pos="97000">
              <a:schemeClr val="accent3">
                <a:lumMod val="5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white">
          <a:xfrm>
            <a:off x="685801" y="609600"/>
            <a:ext cx="10840914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xfrm>
            <a:off x="685801" y="2142067"/>
            <a:ext cx="10840914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984B7D2A-0DF8-424B-9572-B79AEBB2D9DC}" type="datetimeFigureOut">
              <a:rPr lang="en-US" noProof="0" smtClean="0"/>
              <a:t>6/15/2026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59" y="5870575"/>
            <a:ext cx="1260655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D99DD2A-B520-4620-9B43-64B657BA2D42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00906997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2" r:id="rId1"/>
    <p:sldLayoutId id="2147483661" r:id="rId2"/>
    <p:sldLayoutId id="2147483668" r:id="rId3"/>
    <p:sldLayoutId id="2147483679" r:id="rId4"/>
    <p:sldLayoutId id="2147483669" r:id="rId5"/>
    <p:sldLayoutId id="2147483680" r:id="rId6"/>
    <p:sldLayoutId id="2147483672" r:id="rId7"/>
    <p:sldLayoutId id="2147483665" r:id="rId8"/>
    <p:sldLayoutId id="2147483664" r:id="rId9"/>
    <p:sldLayoutId id="2147483671" r:id="rId10"/>
    <p:sldLayoutId id="2147483666" r:id="rId11"/>
    <p:sldLayoutId id="2147483667" r:id="rId12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cran.r-project.org/web/packages/palmerpenguins/readme/README.html" TargetMode="External"/><Relationship Id="rId2" Type="http://schemas.openxmlformats.org/officeDocument/2006/relationships/hyperlink" Target="https://www.kaggle.com/datasets/parulpandey/palmer-archipelago-antarctica-penguin-data" TargetMode="Externa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go.microsoft.com/fwlink/?linkid=2007348" TargetMode="Externa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5B398-1E7F-44AD-8356-8345134C958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Penguin Species Classification Memo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2A3D91-AB3F-4EDF-B87E-FDDF6C5DC4C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1600" i="1" cap="none" dirty="0" smtClean="0"/>
              <a:t>A Preserved Penguin Specimen Has Bill Length = 45 mm And Flipper Length = 220 mm. </a:t>
            </a:r>
          </a:p>
          <a:p>
            <a:r>
              <a:rPr lang="en-US" sz="1600" i="1" cap="none" dirty="0" smtClean="0"/>
              <a:t>What Species Is It Most Likely To Be, And How Confident Are We?</a:t>
            </a:r>
            <a:endParaRPr lang="en-US" sz="1600" i="1" cap="none" dirty="0"/>
          </a:p>
        </p:txBody>
      </p:sp>
      <p:sp>
        <p:nvSpPr>
          <p:cNvPr id="4" name="Rectangle 3"/>
          <p:cNvSpPr/>
          <p:nvPr/>
        </p:nvSpPr>
        <p:spPr>
          <a:xfrm>
            <a:off x="6664324" y="6065810"/>
            <a:ext cx="449580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1400" i="1" dirty="0"/>
              <a:t>Prepared </a:t>
            </a:r>
            <a:r>
              <a:rPr lang="en-US" sz="1400" i="1" dirty="0" smtClean="0"/>
              <a:t>for: </a:t>
            </a:r>
            <a:r>
              <a:rPr lang="en-US" sz="1600" dirty="0" smtClean="0"/>
              <a:t>Dr</a:t>
            </a:r>
            <a:r>
              <a:rPr lang="en-US" sz="1600" dirty="0"/>
              <a:t>. Anya </a:t>
            </a:r>
            <a:r>
              <a:rPr lang="en-US" sz="1600" dirty="0" smtClean="0"/>
              <a:t>Sharma</a:t>
            </a:r>
          </a:p>
          <a:p>
            <a:pPr algn="r"/>
            <a:r>
              <a:rPr lang="en-US" sz="1400" i="1" dirty="0" smtClean="0"/>
              <a:t>Prepared by:</a:t>
            </a:r>
            <a:r>
              <a:rPr lang="en-US" sz="1600" i="1" dirty="0" smtClean="0"/>
              <a:t> </a:t>
            </a:r>
            <a:r>
              <a:rPr lang="en-US" sz="1600" dirty="0" smtClean="0"/>
              <a:t>Tran </a:t>
            </a:r>
            <a:r>
              <a:rPr lang="en-US" sz="1600" dirty="0" err="1" smtClean="0"/>
              <a:t>Quoc</a:t>
            </a:r>
            <a:r>
              <a:rPr lang="en-US" sz="1600" dirty="0" smtClean="0"/>
              <a:t> Bao Dang (STAT-692)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3527490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curled page">
            <a:extLst>
              <a:ext uri="{FF2B5EF4-FFF2-40B4-BE49-F238E27FC236}">
                <a16:creationId xmlns:a16="http://schemas.microsoft.com/office/drawing/2014/main" id="{F54CE4C8-2431-43FB-87C3-391A3BFF806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5527" y="549804"/>
            <a:ext cx="1157288" cy="115728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FF32E04-E3CE-4175-B0D3-33D69BCB0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/>
              <a:t>Executive Summary</a:t>
            </a:r>
            <a:endParaRPr lang="en-US" sz="36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Key Finding: </a:t>
            </a:r>
            <a:r>
              <a:rPr lang="en-US" sz="2800" dirty="0"/>
              <a:t>The unidentified specimen is most likely a Gentoo penguin</a:t>
            </a:r>
            <a:r>
              <a:rPr lang="en-US" sz="2800" dirty="0" smtClean="0"/>
              <a:t>.</a:t>
            </a:r>
            <a:br>
              <a:rPr lang="en-US" sz="2800" dirty="0" smtClean="0"/>
            </a:br>
            <a:endParaRPr lang="en-US" sz="2800" dirty="0" smtClean="0"/>
          </a:p>
          <a:p>
            <a:r>
              <a:rPr lang="en-US" sz="2800" b="1" dirty="0"/>
              <a:t>Evidence:</a:t>
            </a:r>
          </a:p>
          <a:p>
            <a:pPr lvl="1"/>
            <a:r>
              <a:rPr lang="en-US" sz="2800" dirty="0"/>
              <a:t>Visual comparison </a:t>
            </a:r>
          </a:p>
          <a:p>
            <a:pPr lvl="1"/>
            <a:r>
              <a:rPr lang="en-US" sz="2800" dirty="0"/>
              <a:t>Species measurement comparison </a:t>
            </a:r>
          </a:p>
          <a:p>
            <a:pPr lvl="1"/>
            <a:r>
              <a:rPr lang="en-US" sz="2800" dirty="0"/>
              <a:t>Statistical classification </a:t>
            </a:r>
            <a:r>
              <a:rPr lang="en-US" sz="2800" dirty="0" smtClean="0"/>
              <a:t/>
            </a:r>
            <a:br>
              <a:rPr lang="en-US" sz="2800" dirty="0" smtClean="0"/>
            </a:br>
            <a:endParaRPr lang="en-US" sz="2800" dirty="0"/>
          </a:p>
          <a:p>
            <a:r>
              <a:rPr lang="en-US" sz="2800" b="1" dirty="0" smtClean="0"/>
              <a:t>Confidence: </a:t>
            </a:r>
            <a:r>
              <a:rPr lang="en-US" sz="2800" dirty="0" smtClean="0"/>
              <a:t>99.96</a:t>
            </a:r>
            <a:r>
              <a:rPr lang="en-US" sz="2800" dirty="0"/>
              <a:t>% probability of Gentoo</a:t>
            </a:r>
          </a:p>
          <a:p>
            <a:endParaRPr lang="en-US" sz="2800" dirty="0"/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3429622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C826E-72DB-45B4-B092-DA86DA68C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Client Problem</a:t>
            </a:r>
            <a:endParaRPr lang="en-US" sz="3600" b="1" dirty="0"/>
          </a:p>
        </p:txBody>
      </p:sp>
      <p:pic>
        <p:nvPicPr>
          <p:cNvPr id="24" name="Picture 23" descr="calendar icon">
            <a:extLst>
              <a:ext uri="{FF2B5EF4-FFF2-40B4-BE49-F238E27FC236}">
                <a16:creationId xmlns:a16="http://schemas.microsoft.com/office/drawing/2014/main" id="{B83E2AB1-C03F-4257-9171-5FD5FA2720D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9164" y="868126"/>
            <a:ext cx="742950" cy="742950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935431-5E3F-4C1A-BED1-C5BC3D661E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799" y="1881823"/>
            <a:ext cx="5462753" cy="1922821"/>
          </a:xfrm>
        </p:spPr>
        <p:txBody>
          <a:bodyPr/>
          <a:lstStyle/>
          <a:p>
            <a:r>
              <a:rPr lang="en-US" i="1" dirty="0" smtClean="0"/>
              <a:t>- A preserved penguin specimen lost its identification tag. </a:t>
            </a:r>
          </a:p>
          <a:p>
            <a:r>
              <a:rPr lang="en-US" dirty="0" smtClean="0"/>
              <a:t>- </a:t>
            </a:r>
            <a:r>
              <a:rPr lang="en-US" i="1" dirty="0" smtClean="0"/>
              <a:t>Available measurements: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/>
              <a:t>Bill length = 45 mm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/>
              <a:t>Flipper length = 220 mm </a:t>
            </a:r>
          </a:p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720559" y="3804645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i="1" dirty="0" smtClean="0"/>
              <a:t>- Client </a:t>
            </a:r>
            <a:r>
              <a:rPr lang="en-US" i="1" dirty="0"/>
              <a:t>Questions</a:t>
            </a:r>
            <a:r>
              <a:rPr lang="en-US" i="1" dirty="0" smtClean="0"/>
              <a:t>:</a:t>
            </a:r>
            <a:endParaRPr lang="en-US" i="1" dirty="0"/>
          </a:p>
        </p:txBody>
      </p:sp>
      <p:sp>
        <p:nvSpPr>
          <p:cNvPr id="18" name="Rectangle 17"/>
          <p:cNvSpPr/>
          <p:nvPr/>
        </p:nvSpPr>
        <p:spPr>
          <a:xfrm>
            <a:off x="1124606" y="4248364"/>
            <a:ext cx="4939150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smtClean="0"/>
              <a:t>1. What </a:t>
            </a:r>
            <a:r>
              <a:rPr lang="en-US" sz="2000" b="1" dirty="0"/>
              <a:t>species is it? </a:t>
            </a:r>
            <a:r>
              <a:rPr lang="en-US" sz="2000" b="1" dirty="0" smtClean="0"/>
              <a:t/>
            </a:r>
            <a:br>
              <a:rPr lang="en-US" sz="2000" b="1" dirty="0" smtClean="0"/>
            </a:br>
            <a:endParaRPr lang="en-US" sz="2000" b="1" dirty="0"/>
          </a:p>
          <a:p>
            <a:r>
              <a:rPr lang="en-US" sz="2000" b="1" dirty="0" smtClean="0"/>
              <a:t>2. How </a:t>
            </a:r>
            <a:r>
              <a:rPr lang="en-US" sz="2000" b="1" dirty="0"/>
              <a:t>confident are we? </a:t>
            </a:r>
          </a:p>
          <a:p>
            <a:r>
              <a:rPr lang="en-US" sz="2000" b="1" dirty="0" smtClean="0"/>
              <a:t/>
            </a:r>
            <a:br>
              <a:rPr lang="en-US" sz="2000" b="1" dirty="0" smtClean="0"/>
            </a:br>
            <a:r>
              <a:rPr lang="en-US" sz="2000" b="1" dirty="0" smtClean="0"/>
              <a:t>3. How </a:t>
            </a:r>
            <a:r>
              <a:rPr lang="en-US" sz="2000" b="1" dirty="0"/>
              <a:t>does it compare to known species?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5370410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ED3C6-003C-4A2D-B351-F00A04BF6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8625" y="913198"/>
            <a:ext cx="6238874" cy="1260000"/>
          </a:xfrm>
        </p:spPr>
        <p:txBody>
          <a:bodyPr/>
          <a:lstStyle/>
          <a:p>
            <a:pPr algn="ctr"/>
            <a:r>
              <a:rPr lang="en-US" sz="3600" b="1" dirty="0" smtClean="0"/>
              <a:t>Data Used</a:t>
            </a:r>
            <a:endParaRPr lang="en-US" sz="3600" b="1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FA16B2-6A61-4B79-B91C-B41F21F14F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83928" y="2279615"/>
            <a:ext cx="4305958" cy="2982126"/>
          </a:xfrm>
        </p:spPr>
        <p:txBody>
          <a:bodyPr>
            <a:noAutofit/>
          </a:bodyPr>
          <a:lstStyle/>
          <a:p>
            <a:pPr algn="l"/>
            <a:r>
              <a:rPr lang="en-US" sz="2800" b="1" dirty="0"/>
              <a:t>Palmer Penguins Dataset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 smtClean="0"/>
              <a:t>342 </a:t>
            </a:r>
            <a:r>
              <a:rPr lang="en-US" sz="2800" dirty="0"/>
              <a:t>penguins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 smtClean="0"/>
              <a:t>151 </a:t>
            </a:r>
            <a:r>
              <a:rPr lang="en-US" sz="2800" dirty="0" err="1"/>
              <a:t>Adelie</a:t>
            </a:r>
            <a:r>
              <a:rPr lang="en-US" sz="2800" dirty="0"/>
              <a:t>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 smtClean="0"/>
              <a:t>68 </a:t>
            </a:r>
            <a:r>
              <a:rPr lang="en-US" sz="2800" dirty="0"/>
              <a:t>Chinstrap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 smtClean="0"/>
              <a:t>123 </a:t>
            </a:r>
            <a:r>
              <a:rPr lang="en-US" sz="2800" dirty="0"/>
              <a:t>Gentoo </a:t>
            </a:r>
          </a:p>
        </p:txBody>
      </p:sp>
      <p:sp>
        <p:nvSpPr>
          <p:cNvPr id="5" name="Rectangle 4"/>
          <p:cNvSpPr/>
          <p:nvPr/>
        </p:nvSpPr>
        <p:spPr>
          <a:xfrm>
            <a:off x="6827782" y="2328832"/>
            <a:ext cx="3498631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/>
              <a:t>Measurements: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 smtClean="0"/>
              <a:t>Bill </a:t>
            </a:r>
            <a:r>
              <a:rPr lang="en-US" sz="2800" dirty="0"/>
              <a:t>length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 smtClean="0"/>
              <a:t>Flipper </a:t>
            </a:r>
            <a:r>
              <a:rPr lang="en-US" sz="2800" dirty="0"/>
              <a:t>length</a:t>
            </a:r>
            <a:endParaRPr lang="en-US" sz="2800" dirty="0"/>
          </a:p>
        </p:txBody>
      </p:sp>
      <p:sp>
        <p:nvSpPr>
          <p:cNvPr id="7" name="Rectangle 6"/>
          <p:cNvSpPr/>
          <p:nvPr/>
        </p:nvSpPr>
        <p:spPr>
          <a:xfrm>
            <a:off x="1861644" y="6223466"/>
            <a:ext cx="766861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 err="1" smtClean="0"/>
              <a:t>Kaggle</a:t>
            </a:r>
            <a:r>
              <a:rPr lang="en-US" sz="1400" b="1" dirty="0" smtClean="0"/>
              <a:t>: </a:t>
            </a:r>
            <a:r>
              <a:rPr lang="en-US" sz="1400" i="1" dirty="0" smtClean="0">
                <a:hlinkClick r:id="rId2"/>
              </a:rPr>
              <a:t>https</a:t>
            </a:r>
            <a:r>
              <a:rPr lang="en-US" sz="1400" i="1" dirty="0">
                <a:hlinkClick r:id="rId2"/>
              </a:rPr>
              <a:t>://</a:t>
            </a:r>
            <a:r>
              <a:rPr lang="en-US" sz="1400" i="1" dirty="0" smtClean="0">
                <a:hlinkClick r:id="rId2"/>
              </a:rPr>
              <a:t>www.kaggle.com/datasets/parulpandey/palmer-archipelago-antarctica-penguin-data</a:t>
            </a:r>
            <a:endParaRPr lang="en-US" sz="1400" i="1" dirty="0" smtClean="0"/>
          </a:p>
          <a:p>
            <a:r>
              <a:rPr lang="en-US" sz="1400" b="1" i="1" dirty="0"/>
              <a:t>R-Project: </a:t>
            </a:r>
            <a:r>
              <a:rPr lang="en-US" sz="1400" i="1" dirty="0">
                <a:hlinkClick r:id="rId3"/>
              </a:rPr>
              <a:t>https://</a:t>
            </a:r>
            <a:r>
              <a:rPr lang="en-US" sz="1400" i="1" dirty="0" smtClean="0">
                <a:hlinkClick r:id="rId3"/>
              </a:rPr>
              <a:t>cran.r-project.org/web/packages/palmerpenguins/readme/README.html</a:t>
            </a:r>
            <a:endParaRPr lang="en-US" sz="1400" i="1" dirty="0" smtClean="0"/>
          </a:p>
          <a:p>
            <a:endParaRPr lang="en-US" sz="1400" i="1" dirty="0"/>
          </a:p>
        </p:txBody>
      </p:sp>
    </p:spTree>
    <p:extLst>
      <p:ext uri="{BB962C8B-B14F-4D97-AF65-F5344CB8AC3E}">
        <p14:creationId xmlns:p14="http://schemas.microsoft.com/office/powerpoint/2010/main" val="17338949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E71A9-3DD2-40A0-A793-8A327B787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b="1" dirty="0"/>
              <a:t>Visual Evidence</a:t>
            </a:r>
            <a:endParaRPr lang="en-US" sz="3600" b="1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E3F3D3-E33B-4CC0-A31E-7554F6BAEA6C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algn="ctr"/>
            <a:r>
              <a:rPr lang="en-US" b="1" dirty="0"/>
              <a:t>Figure 1 </a:t>
            </a:r>
            <a:r>
              <a:rPr lang="en-US" dirty="0"/>
              <a:t>shows the relationship between bill length and flipper length for the three </a:t>
            </a:r>
            <a:r>
              <a:rPr lang="en-US" dirty="0" smtClean="0"/>
              <a:t>species. </a:t>
            </a:r>
            <a:endParaRPr lang="en-US" dirty="0"/>
          </a:p>
          <a:p>
            <a:pPr algn="ctr"/>
            <a:endParaRPr lang="en-US" sz="2000" b="1" i="1" dirty="0" smtClean="0"/>
          </a:p>
          <a:p>
            <a:pPr algn="ctr"/>
            <a:r>
              <a:rPr lang="en-US" sz="2000" b="1" i="1" dirty="0" smtClean="0"/>
              <a:t>The </a:t>
            </a:r>
            <a:r>
              <a:rPr lang="en-US" sz="2000" b="1" i="1" dirty="0"/>
              <a:t>unidentified specimen falls directly within </a:t>
            </a:r>
            <a:r>
              <a:rPr lang="en-US" sz="2000" b="1" i="1" dirty="0" smtClean="0"/>
              <a:t>the Gentoo </a:t>
            </a:r>
            <a:r>
              <a:rPr lang="en-US" sz="2000" b="1" i="1" dirty="0"/>
              <a:t>cluster and is </a:t>
            </a:r>
            <a:r>
              <a:rPr lang="en-US" sz="2000" b="1" i="1" dirty="0" smtClean="0"/>
              <a:t>visually separated </a:t>
            </a:r>
            <a:r>
              <a:rPr lang="en-US" sz="2000" b="1" i="1" dirty="0"/>
              <a:t>from </a:t>
            </a:r>
            <a:r>
              <a:rPr lang="en-US" sz="2000" b="1" i="1" dirty="0" smtClean="0"/>
              <a:t>most </a:t>
            </a:r>
            <a:r>
              <a:rPr lang="en-US" sz="2000" b="1" i="1" dirty="0" err="1" smtClean="0"/>
              <a:t>Adelie</a:t>
            </a:r>
            <a:r>
              <a:rPr lang="en-US" sz="2000" b="1" i="1" dirty="0" smtClean="0"/>
              <a:t> </a:t>
            </a:r>
            <a:r>
              <a:rPr lang="en-US" sz="2000" b="1" i="1" dirty="0"/>
              <a:t>and Chinstrap observations.</a:t>
            </a:r>
            <a:endParaRPr lang="en-US" sz="2000" b="1" i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978" y="1168295"/>
            <a:ext cx="5934523" cy="4471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38670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E71A9-3DD2-40A0-A793-8A327B7870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42" y="570299"/>
            <a:ext cx="8252265" cy="1260000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/>
              <a:t>Comparison of Measurements</a:t>
            </a:r>
            <a:endParaRPr lang="en-US" sz="3600" b="1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7832" y="1844562"/>
            <a:ext cx="9548683" cy="250959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445796" y="4807408"/>
            <a:ext cx="93752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/>
              <a:t>=&gt; Closest </a:t>
            </a:r>
            <a:r>
              <a:rPr lang="en-US" b="1" i="1" dirty="0"/>
              <a:t>Match: Gentoo</a:t>
            </a:r>
          </a:p>
        </p:txBody>
      </p:sp>
    </p:spTree>
    <p:extLst>
      <p:ext uri="{BB962C8B-B14F-4D97-AF65-F5344CB8AC3E}">
        <p14:creationId xmlns:p14="http://schemas.microsoft.com/office/powerpoint/2010/main" val="14871922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CE1DA-3FCD-4498-BCBB-3618ED947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09599"/>
            <a:ext cx="5990896" cy="1260000"/>
          </a:xfrm>
        </p:spPr>
        <p:txBody>
          <a:bodyPr>
            <a:normAutofit/>
          </a:bodyPr>
          <a:lstStyle/>
          <a:p>
            <a:r>
              <a:rPr lang="en-US" sz="3600" b="1" dirty="0"/>
              <a:t>Confidence Assessment</a:t>
            </a:r>
            <a:endParaRPr lang="en-US" sz="3600" b="1" dirty="0"/>
          </a:p>
        </p:txBody>
      </p:sp>
      <p:pic>
        <p:nvPicPr>
          <p:cNvPr id="13" name="Picture 12" descr="pen and paper icon">
            <a:extLst>
              <a:ext uri="{FF2B5EF4-FFF2-40B4-BE49-F238E27FC236}">
                <a16:creationId xmlns:a16="http://schemas.microsoft.com/office/drawing/2014/main" id="{CE889C08-FD1F-4AE0-9D82-E718A6E92DF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6697" y="782079"/>
            <a:ext cx="814387" cy="814387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7572" y="2042079"/>
            <a:ext cx="6759252" cy="2431387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2425261" y="4953240"/>
            <a:ext cx="733359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i="1" dirty="0"/>
              <a:t>Statistical analysis indicates:</a:t>
            </a:r>
            <a:r>
              <a:rPr lang="en-US" i="1" dirty="0" smtClean="0"/>
              <a:t> Gentoo </a:t>
            </a:r>
            <a:r>
              <a:rPr lang="en-US" i="1" dirty="0"/>
              <a:t>received a probability of 99.96%, while the other species received essentially zero probability.</a:t>
            </a:r>
          </a:p>
        </p:txBody>
      </p:sp>
    </p:spTree>
    <p:extLst>
      <p:ext uri="{BB962C8B-B14F-4D97-AF65-F5344CB8AC3E}">
        <p14:creationId xmlns:p14="http://schemas.microsoft.com/office/powerpoint/2010/main" val="14452188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78200-0985-4DED-A84B-D6ADED92FA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09600"/>
            <a:ext cx="3019096" cy="1260000"/>
          </a:xfrm>
        </p:spPr>
        <p:txBody>
          <a:bodyPr>
            <a:normAutofit/>
          </a:bodyPr>
          <a:lstStyle/>
          <a:p>
            <a:r>
              <a:rPr lang="en-US" sz="3600" b="1" dirty="0"/>
              <a:t>Limitations</a:t>
            </a:r>
            <a:endParaRPr lang="en-US" sz="3600" b="1" dirty="0"/>
          </a:p>
        </p:txBody>
      </p:sp>
      <p:pic>
        <p:nvPicPr>
          <p:cNvPr id="7" name="Picture 6" descr="magnifying glass icon">
            <a:extLst>
              <a:ext uri="{FF2B5EF4-FFF2-40B4-BE49-F238E27FC236}">
                <a16:creationId xmlns:a16="http://schemas.microsoft.com/office/drawing/2014/main" id="{AAE36621-6FAB-4009-9D5C-CE767DF10D2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4462" y="1020575"/>
            <a:ext cx="496856" cy="496856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E8A47E-9D4A-4D70-B23A-B0AC375729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1213" y="1655900"/>
            <a:ext cx="4721115" cy="462212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US" sz="2400" dirty="0" smtClean="0"/>
              <a:t>Potential </a:t>
            </a:r>
            <a:r>
              <a:rPr lang="en-US" sz="2400" dirty="0"/>
              <a:t>sources of uncertainty</a:t>
            </a:r>
            <a:r>
              <a:rPr lang="en-US" sz="2400" dirty="0" smtClean="0"/>
              <a:t>:</a:t>
            </a:r>
            <a:endParaRPr lang="en-US" sz="2400" dirty="0"/>
          </a:p>
        </p:txBody>
      </p:sp>
      <p:sp>
        <p:nvSpPr>
          <p:cNvPr id="4" name="Rectangle 3"/>
          <p:cNvSpPr/>
          <p:nvPr/>
        </p:nvSpPr>
        <p:spPr>
          <a:xfrm>
            <a:off x="1305910" y="2312515"/>
            <a:ext cx="9848193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Only two measurements available (bill length, flipper </a:t>
            </a:r>
            <a:r>
              <a:rPr lang="en-US" sz="2400" dirty="0" smtClean="0"/>
              <a:t>length)</a:t>
            </a:r>
            <a:br>
              <a:rPr lang="en-US" sz="2400" dirty="0" smtClean="0"/>
            </a:br>
            <a:endParaRPr lang="en-US" sz="24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smtClean="0"/>
              <a:t>Preserved </a:t>
            </a:r>
            <a:r>
              <a:rPr lang="en-US" sz="2400" dirty="0"/>
              <a:t>specimen may contain measurement </a:t>
            </a:r>
            <a:r>
              <a:rPr lang="en-US" sz="2400" dirty="0" smtClean="0"/>
              <a:t>error</a:t>
            </a:r>
            <a:br>
              <a:rPr lang="en-US" sz="2400" dirty="0" smtClean="0"/>
            </a:br>
            <a:endParaRPr lang="en-US" sz="24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smtClean="0"/>
              <a:t>Other </a:t>
            </a:r>
            <a:r>
              <a:rPr lang="en-US" sz="2400" dirty="0"/>
              <a:t>biological characteristics unavailable (body mass, bill depth, sex, island of origin)</a:t>
            </a:r>
          </a:p>
        </p:txBody>
      </p:sp>
    </p:spTree>
    <p:extLst>
      <p:ext uri="{BB962C8B-B14F-4D97-AF65-F5344CB8AC3E}">
        <p14:creationId xmlns:p14="http://schemas.microsoft.com/office/powerpoint/2010/main" val="2776209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BA199-95B7-41B3-9A72-44BD819B1C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Recommendation</a:t>
            </a:r>
            <a:endParaRPr lang="en-US" sz="3600" b="1" dirty="0"/>
          </a:p>
        </p:txBody>
      </p:sp>
      <p:pic>
        <p:nvPicPr>
          <p:cNvPr id="10" name="Picture 9" descr="gavel icon ">
            <a:extLst>
              <a:ext uri="{FF2B5EF4-FFF2-40B4-BE49-F238E27FC236}">
                <a16:creationId xmlns:a16="http://schemas.microsoft.com/office/drawing/2014/main" id="{4CC9C727-CD5E-461F-9DE1-B579A54D1FE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2479" y="902576"/>
            <a:ext cx="679837" cy="679837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131173" y="1999493"/>
            <a:ext cx="5950170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Classify the specimen as a Gentoo penguin</a:t>
            </a:r>
            <a:r>
              <a:rPr lang="en-US" sz="2400" b="1" dirty="0" smtClean="0"/>
              <a:t>.</a:t>
            </a:r>
          </a:p>
          <a:p>
            <a:endParaRPr lang="en-US" sz="2400" dirty="0"/>
          </a:p>
          <a:p>
            <a:r>
              <a:rPr lang="en-US" sz="2400" i="1" dirty="0"/>
              <a:t>Supporting evidence: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 smtClean="0"/>
              <a:t>Visual </a:t>
            </a:r>
            <a:r>
              <a:rPr lang="en-US" sz="2400" dirty="0"/>
              <a:t>comparison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 smtClean="0"/>
              <a:t> </a:t>
            </a:r>
            <a:r>
              <a:rPr lang="en-US" sz="2400" dirty="0"/>
              <a:t>Species averages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 smtClean="0"/>
              <a:t>Statistical classification</a:t>
            </a:r>
          </a:p>
          <a:p>
            <a:endParaRPr lang="en-US" sz="2400" dirty="0"/>
          </a:p>
          <a:p>
            <a:r>
              <a:rPr lang="en-US" sz="2400" i="1" dirty="0" smtClean="0"/>
              <a:t>Confidence</a:t>
            </a:r>
            <a:r>
              <a:rPr lang="en-US" sz="2400" dirty="0" smtClean="0"/>
              <a:t>: </a:t>
            </a:r>
            <a:r>
              <a:rPr lang="en-US" sz="3200" b="1" dirty="0" smtClean="0"/>
              <a:t>99.96</a:t>
            </a:r>
            <a:r>
              <a:rPr lang="en-US" sz="3200" b="1" dirty="0"/>
              <a:t>%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3301437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hlinkClick r:id="rId2"/>
            <a:extLst>
              <a:ext uri="{FF2B5EF4-FFF2-40B4-BE49-F238E27FC236}">
                <a16:creationId xmlns:a16="http://schemas.microsoft.com/office/drawing/2014/main" id="{5FC6C278-4035-446A-A94B-030E792FDDF5}"/>
              </a:ext>
            </a:extLst>
          </p:cNvPr>
          <p:cNvSpPr txBox="1"/>
          <p:nvPr/>
        </p:nvSpPr>
        <p:spPr>
          <a:xfrm>
            <a:off x="4112338" y="2556724"/>
            <a:ext cx="4017415" cy="104044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sz="6000" dirty="0" smtClean="0"/>
              <a:t>Thank you</a:t>
            </a:r>
            <a:endParaRPr lang="en-US" sz="6000" dirty="0"/>
          </a:p>
        </p:txBody>
      </p:sp>
    </p:spTree>
    <p:extLst>
      <p:ext uri="{BB962C8B-B14F-4D97-AF65-F5344CB8AC3E}">
        <p14:creationId xmlns:p14="http://schemas.microsoft.com/office/powerpoint/2010/main" val="239459820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">
      <a:majorFont>
        <a:latin typeface="Corbel"/>
        <a:ea typeface=""/>
        <a:cs typeface=""/>
      </a:majorFont>
      <a:minorFont>
        <a:latin typeface="Corbel"/>
        <a:ea typeface=""/>
        <a:cs typeface="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3">
            <a:shade val="50000"/>
          </a:schemeClr>
        </a:lnRef>
        <a:fillRef idx="1">
          <a:schemeClr val="accent3"/>
        </a:fillRef>
        <a:effectRef idx="0">
          <a:schemeClr val="accent3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TF22736411_Famous event in history presentation_AAS_v4" id="{885A6F1E-651B-4F15-A7C5-F8866BEBEDBA}" vid="{A424914B-CB64-4CFE-A131-6ACB64D36AA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96277B9-27DA-47CA-9593-62E4BB44ABE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EC94942-C689-461B-8649-1FD863C6BA2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38C25A74-1E0C-4362-AFA3-6197BD285F3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Famous event in history presentation</Template>
  <TotalTime>0</TotalTime>
  <Words>244</Words>
  <Application>Microsoft Office PowerPoint</Application>
  <PresentationFormat>Widescreen</PresentationFormat>
  <Paragraphs>55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Corbel</vt:lpstr>
      <vt:lpstr>Celestial</vt:lpstr>
      <vt:lpstr>Penguin Species Classification Memo</vt:lpstr>
      <vt:lpstr>Executive Summary</vt:lpstr>
      <vt:lpstr>Client Problem</vt:lpstr>
      <vt:lpstr>Data Used</vt:lpstr>
      <vt:lpstr>Visual Evidence</vt:lpstr>
      <vt:lpstr>Comparison of Measurements</vt:lpstr>
      <vt:lpstr>Confidence Assessment</vt:lpstr>
      <vt:lpstr>Limitations</vt:lpstr>
      <vt:lpstr>Recommendation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2026-06-15T15:30:37Z</dcterms:created>
  <dcterms:modified xsi:type="dcterms:W3CDTF">2026-06-15T16:43:45Z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